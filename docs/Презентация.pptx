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20"/>
  </p:notesMasterIdLst>
  <p:sldIdLst>
    <p:sldId id="256" r:id="rId2"/>
    <p:sldId id="522" r:id="rId3"/>
    <p:sldId id="281" r:id="rId4"/>
    <p:sldId id="505" r:id="rId5"/>
    <p:sldId id="524" r:id="rId6"/>
    <p:sldId id="508" r:id="rId7"/>
    <p:sldId id="534" r:id="rId8"/>
    <p:sldId id="528" r:id="rId9"/>
    <p:sldId id="529" r:id="rId10"/>
    <p:sldId id="530" r:id="rId11"/>
    <p:sldId id="531" r:id="rId12"/>
    <p:sldId id="532" r:id="rId13"/>
    <p:sldId id="533" r:id="rId14"/>
    <p:sldId id="519" r:id="rId15"/>
    <p:sldId id="526" r:id="rId16"/>
    <p:sldId id="527" r:id="rId17"/>
    <p:sldId id="525" r:id="rId18"/>
    <p:sldId id="501" r:id="rId19"/>
  </p:sldIdLst>
  <p:sldSz cx="12192000" cy="6858000"/>
  <p:notesSz cx="6858000" cy="9144000"/>
  <p:embeddedFontLst>
    <p:embeddedFont>
      <p:font typeface="AvenirNextCyr-Regular" panose="020B0503020202020204" pitchFamily="34" charset="0"/>
      <p:regular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Montserrat" pitchFamily="2" charset="0"/>
      <p:regular r:id="rId26"/>
      <p:bold r:id="rId27"/>
      <p:italic r:id="rId28"/>
      <p:boldItalic r:id="rId2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41"/>
    <p:restoredTop sz="96552"/>
  </p:normalViewPr>
  <p:slideViewPr>
    <p:cSldViewPr snapToGrid="0" showGuides="1">
      <p:cViewPr varScale="1">
        <p:scale>
          <a:sx n="121" d="100"/>
          <a:sy n="121" d="100"/>
        </p:scale>
        <p:origin x="192" y="216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507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21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062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3"/>
            <a:ext cx="6408165" cy="461665"/>
          </a:xfrm>
        </p:spPr>
        <p:txBody>
          <a:bodyPr/>
          <a:lstStyle/>
          <a:p>
            <a:r>
              <a:rPr lang="ru-RU" b="1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81995"/>
            <a:ext cx="8234671" cy="1200329"/>
          </a:xfrm>
        </p:spPr>
        <p:txBody>
          <a:bodyPr/>
          <a:lstStyle/>
          <a:p>
            <a:r>
              <a:rPr lang="ru-RU" dirty="0"/>
              <a:t>Веб-сервис «</a:t>
            </a:r>
            <a:r>
              <a:rPr lang="en" dirty="0"/>
              <a:t>D&amp;D-</a:t>
            </a:r>
            <a:r>
              <a:rPr lang="ru-RU" dirty="0"/>
              <a:t>портрет персонажа по описанию»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6F0F154E-4D2A-4B91-3624-EF918C6DF6B1}"/>
              </a:ext>
            </a:extLst>
          </p:cNvPr>
          <p:cNvSpPr txBox="1">
            <a:spLocks/>
          </p:cNvSpPr>
          <p:nvPr/>
        </p:nvSpPr>
        <p:spPr>
          <a:xfrm>
            <a:off x="560193" y="5157950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студент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1600" dirty="0"/>
              <a:t>3 курса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97C1AFA-BFB5-AA61-C80D-F647F65F6CF5}"/>
              </a:ext>
            </a:extLst>
          </p:cNvPr>
          <p:cNvSpPr txBox="1">
            <a:spLocks/>
          </p:cNvSpPr>
          <p:nvPr/>
        </p:nvSpPr>
        <p:spPr>
          <a:xfrm>
            <a:off x="560193" y="5556393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НИЯУ МИФИ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A6E91C7-21D3-F7F1-FD23-0D183379BE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797" y="233882"/>
            <a:ext cx="5766431" cy="646331"/>
          </a:xfrm>
        </p:spPr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19F354F7-19E1-1818-469C-478228DD3D71}"/>
              </a:ext>
            </a:extLst>
          </p:cNvPr>
          <p:cNvSpPr txBox="1">
            <a:spLocks/>
          </p:cNvSpPr>
          <p:nvPr/>
        </p:nvSpPr>
        <p:spPr>
          <a:xfrm>
            <a:off x="2472181" y="2397948"/>
            <a:ext cx="7247637" cy="206210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200" dirty="0">
                <a:solidFill>
                  <a:schemeClr val="tx1"/>
                </a:solidFill>
              </a:rPr>
              <a:t>Разработать веб-систему для генерации и управления портретами персонажей </a:t>
            </a:r>
            <a:r>
              <a:rPr lang="en" sz="3200" dirty="0">
                <a:solidFill>
                  <a:schemeClr val="tx1"/>
                </a:solidFill>
              </a:rPr>
              <a:t>D&amp;D </a:t>
            </a:r>
            <a:r>
              <a:rPr lang="ru-RU" sz="3200" dirty="0">
                <a:solidFill>
                  <a:schemeClr val="tx1"/>
                </a:solidFill>
              </a:rPr>
              <a:t>с интеграцией </a:t>
            </a:r>
            <a:r>
              <a:rPr lang="en" sz="3200" dirty="0" err="1">
                <a:solidFill>
                  <a:schemeClr val="tx1"/>
                </a:solidFill>
              </a:rPr>
              <a:t>GigaChat</a:t>
            </a:r>
            <a:r>
              <a:rPr lang="en" sz="3200" dirty="0">
                <a:solidFill>
                  <a:schemeClr val="tx1"/>
                </a:solidFill>
              </a:rPr>
              <a:t> </a:t>
            </a:r>
            <a:endParaRPr lang="ru-RU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971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7A3F70-B79F-9B2C-18E3-11840B6C4D7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0748" t="37206" r="-393" b="47083"/>
          <a:stretch/>
        </p:blipFill>
        <p:spPr>
          <a:xfrm rot="16200000">
            <a:off x="186092" y="6199899"/>
            <a:ext cx="523220" cy="895404"/>
          </a:xfrm>
          <a:prstGeom prst="rect">
            <a:avLst/>
          </a:prstGeom>
        </p:spPr>
      </p:pic>
      <p:sp>
        <p:nvSpPr>
          <p:cNvPr id="21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27725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03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2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39607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05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3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512744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07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4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208603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02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326761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04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6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444918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06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A43EA-FFA3-4B5C-BDB6-43A5AF19B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проделанной работы</a:t>
            </a:r>
          </a:p>
        </p:txBody>
      </p:sp>
      <p:sp>
        <p:nvSpPr>
          <p:cNvPr id="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1605843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01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6" name="Google Shape;83;p10">
            <a:extLst>
              <a:ext uri="{FF2B5EF4-FFF2-40B4-BE49-F238E27FC236}">
                <a16:creationId xmlns:a16="http://schemas.microsoft.com/office/drawing/2014/main" id="{1E0D26CD-8337-4A73-AA66-C6CAECA80066}"/>
              </a:ext>
            </a:extLst>
          </p:cNvPr>
          <p:cNvSpPr/>
          <p:nvPr/>
        </p:nvSpPr>
        <p:spPr>
          <a:xfrm>
            <a:off x="2187232" y="1605843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АРХИТЕКТУРА И КАРКАС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8" name="Google Shape;83;p10">
            <a:extLst>
              <a:ext uri="{FF2B5EF4-FFF2-40B4-BE49-F238E27FC236}">
                <a16:creationId xmlns:a16="http://schemas.microsoft.com/office/drawing/2014/main" id="{26C90766-12B5-40E6-B7C3-73D85D85F276}"/>
              </a:ext>
            </a:extLst>
          </p:cNvPr>
          <p:cNvSpPr/>
          <p:nvPr/>
        </p:nvSpPr>
        <p:spPr>
          <a:xfrm>
            <a:off x="2187232" y="27725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АВТОРИЗАЦИЯ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0" name="Google Shape;83;p10">
            <a:extLst>
              <a:ext uri="{FF2B5EF4-FFF2-40B4-BE49-F238E27FC236}">
                <a16:creationId xmlns:a16="http://schemas.microsoft.com/office/drawing/2014/main" id="{86676489-F718-4EAD-9231-EDF348B44652}"/>
              </a:ext>
            </a:extLst>
          </p:cNvPr>
          <p:cNvSpPr/>
          <p:nvPr/>
        </p:nvSpPr>
        <p:spPr>
          <a:xfrm>
            <a:off x="2187232" y="39607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ПЕРСОНАЖИ И ИЗБРАННОЕ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2" name="Google Shape;83;p10">
            <a:extLst>
              <a:ext uri="{FF2B5EF4-FFF2-40B4-BE49-F238E27FC236}">
                <a16:creationId xmlns:a16="http://schemas.microsoft.com/office/drawing/2014/main" id="{983B4787-3D33-42B3-9E43-C40FEDB24AF8}"/>
              </a:ext>
            </a:extLst>
          </p:cNvPr>
          <p:cNvSpPr/>
          <p:nvPr/>
        </p:nvSpPr>
        <p:spPr>
          <a:xfrm>
            <a:off x="2187232" y="512744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ФИНАЛИЗАЦИЯ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4" name="Google Shape;83;p10">
            <a:extLst>
              <a:ext uri="{FF2B5EF4-FFF2-40B4-BE49-F238E27FC236}">
                <a16:creationId xmlns:a16="http://schemas.microsoft.com/office/drawing/2014/main" id="{E1F18F36-93E2-4C50-867E-E68CFE03D37D}"/>
              </a:ext>
            </a:extLst>
          </p:cNvPr>
          <p:cNvSpPr/>
          <p:nvPr/>
        </p:nvSpPr>
        <p:spPr>
          <a:xfrm>
            <a:off x="7438463" y="208603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БАЗОВЫЙ 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BACKEND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6" name="Google Shape;83;p10">
            <a:extLst>
              <a:ext uri="{FF2B5EF4-FFF2-40B4-BE49-F238E27FC236}">
                <a16:creationId xmlns:a16="http://schemas.microsoft.com/office/drawing/2014/main" id="{A058F8C9-9D8E-481D-B9C5-A6356A9A1D76}"/>
              </a:ext>
            </a:extLst>
          </p:cNvPr>
          <p:cNvSpPr/>
          <p:nvPr/>
        </p:nvSpPr>
        <p:spPr>
          <a:xfrm>
            <a:off x="7438463" y="326761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GIGACHAT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8" name="Google Shape;83;p10">
            <a:extLst>
              <a:ext uri="{FF2B5EF4-FFF2-40B4-BE49-F238E27FC236}">
                <a16:creationId xmlns:a16="http://schemas.microsoft.com/office/drawing/2014/main" id="{B32C8BF5-6462-4F70-95F1-CF90581253A2}"/>
              </a:ext>
            </a:extLst>
          </p:cNvPr>
          <p:cNvSpPr/>
          <p:nvPr/>
        </p:nvSpPr>
        <p:spPr>
          <a:xfrm>
            <a:off x="7438463" y="444918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 err="1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F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RONTEND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1035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Реализованный функционал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104363" y="1355741"/>
            <a:ext cx="7610887" cy="5232202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Основной функционал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Регистрация и вход (</a:t>
            </a:r>
            <a:r>
              <a:rPr lang="en" sz="2000" dirty="0"/>
              <a:t>JWT </a:t>
            </a:r>
            <a:r>
              <a:rPr lang="ru-RU" sz="2000" dirty="0"/>
              <a:t>в </a:t>
            </a:r>
            <a:r>
              <a:rPr lang="en" sz="2000" dirty="0" err="1"/>
              <a:t>HttpOnly</a:t>
            </a:r>
            <a:r>
              <a:rPr lang="en" sz="2000" dirty="0"/>
              <a:t> cookies)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описанию и параметрам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История генераций со статусами и фильтром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Просмотр результата: портрет, параметры, собранный </a:t>
            </a:r>
            <a:r>
              <a:rPr lang="ru-RU" sz="2000" dirty="0" err="1"/>
              <a:t>промпт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Повтор генерации при ошибке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Удаление запросов генерации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Персонажи: создание, редактирование, удаление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шаблону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Сохранение результата генерации как нового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Избранное: добавление, просмотр, удаление понравившихся портретов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422A7A3-3D04-AEB8-7379-90F20BDE5247}"/>
              </a:ext>
            </a:extLst>
          </p:cNvPr>
          <p:cNvSpPr txBox="1">
            <a:spLocks/>
          </p:cNvSpPr>
          <p:nvPr/>
        </p:nvSpPr>
        <p:spPr>
          <a:xfrm>
            <a:off x="7840980" y="1243786"/>
            <a:ext cx="4052347" cy="437042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Дополнительный функционал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Асинхронная обработка запросов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/>
              <a:t>Автообновление</a:t>
            </a:r>
            <a:r>
              <a:rPr lang="ru-RU" sz="2000" dirty="0"/>
              <a:t> статуса на странице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Лимиты на генерацию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Аудит вызовов </a:t>
            </a:r>
            <a:r>
              <a:rPr lang="en" sz="2000" dirty="0" err="1"/>
              <a:t>GigaChat</a:t>
            </a:r>
            <a:r>
              <a:rPr lang="en" sz="2000" dirty="0"/>
              <a:t> 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Разделение генераций и персонажей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Локализация сообщений об ошибках</a:t>
            </a:r>
          </a:p>
        </p:txBody>
      </p:sp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 проектирования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5CDFC2D-BF90-A4F4-DEA0-0B67C6C9F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277942"/>
              </p:ext>
            </p:extLst>
          </p:nvPr>
        </p:nvGraphicFramePr>
        <p:xfrm>
          <a:off x="-2" y="1220472"/>
          <a:ext cx="12192002" cy="563753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05657">
                  <a:extLst>
                    <a:ext uri="{9D8B030D-6E8A-4147-A177-3AD203B41FA5}">
                      <a16:colId xmlns:a16="http://schemas.microsoft.com/office/drawing/2014/main" val="1660074269"/>
                    </a:ext>
                  </a:extLst>
                </a:gridCol>
                <a:gridCol w="8986345">
                  <a:extLst>
                    <a:ext uri="{9D8B030D-6E8A-4147-A177-3AD203B41FA5}">
                      <a16:colId xmlns:a16="http://schemas.microsoft.com/office/drawing/2014/main" val="3962140704"/>
                    </a:ext>
                  </a:extLst>
                </a:gridCol>
              </a:tblGrid>
              <a:tr h="443479"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Паттерн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Зачем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1321659616"/>
                  </a:ext>
                </a:extLst>
              </a:tr>
              <a:tr h="1121448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Strategy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Каждый аспект промпта (вселенная, роль, настроение, тон) — отдельный класс. Легко добавлять новые параметры без разрастания if-else.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886214646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Builder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Собирает итоговый system/user промпт из набора стратегий.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524743825"/>
                  </a:ext>
                </a:extLst>
              </a:tr>
              <a:tr h="76103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Port / Adapter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Изолирует бизнес-логику от GigaChat API; замена провайдера не затрагивает pipeline.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730646523"/>
                  </a:ext>
                </a:extLst>
              </a:tr>
              <a:tr h="866373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Repository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Абстракция доступа к </a:t>
                      </a:r>
                      <a:r>
                        <a:rPr lang="ru-RU" sz="1800" kern="100" dirty="0" err="1">
                          <a:effectLst/>
                        </a:rPr>
                        <a:t>PostgreSQL</a:t>
                      </a:r>
                      <a:r>
                        <a:rPr lang="ru-RU" sz="1800" kern="100" dirty="0">
                          <a:effectLst/>
                        </a:rPr>
                        <a:t>; декларативные запросы вместо ручного SQL в сервисах.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08719357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DTO + Mapper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Отделение HTTP-модели от JPA-сущностей; enums с labelRu для UI.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645288792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Event-driven (Observer)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Запуск async pipeline строго после commit — данные консистентны.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445917555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Layered architecture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Разделение транспорта, сценариев и данных.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2692938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8744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архитектуры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03D030-A3C7-F084-18D9-68EE0082F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464" b="56781"/>
          <a:stretch/>
        </p:blipFill>
        <p:spPr>
          <a:xfrm>
            <a:off x="319025" y="1768555"/>
            <a:ext cx="3718901" cy="405439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58E78B-1D9D-E63E-469D-A62A02AA5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758"/>
          <a:stretch/>
        </p:blipFill>
        <p:spPr>
          <a:xfrm>
            <a:off x="5830663" y="1768555"/>
            <a:ext cx="5678163" cy="4963320"/>
          </a:xfrm>
          <a:prstGeom prst="rect">
            <a:avLst/>
          </a:prstGeom>
        </p:spPr>
      </p:pic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2C5163F-4C2A-4D2A-DD6D-01907B94E7B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48881" y="1098149"/>
            <a:ext cx="4054395" cy="5395204"/>
          </a:xfrm>
          <a:prstGeom prst="bentConnector4">
            <a:avLst>
              <a:gd name="adj1" fmla="val -5638"/>
              <a:gd name="adj2" fmla="val 50138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</a:t>
            </a:r>
            <a:r>
              <a:rPr lang="en-US" dirty="0" err="1"/>
              <a:t>д</a:t>
            </a:r>
            <a:r>
              <a:rPr lang="ru-RU" dirty="0" err="1"/>
              <a:t>иаграмма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135D13-5F4B-2B07-13A5-1B36096631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9"/>
          <a:stretch/>
        </p:blipFill>
        <p:spPr bwMode="auto">
          <a:xfrm>
            <a:off x="4351283" y="0"/>
            <a:ext cx="5381802" cy="68332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140704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ru-RU" dirty="0"/>
              <a:t>проса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040007-0FEF-0E04-0B24-DA97D63492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30" y="1234440"/>
            <a:ext cx="11436188" cy="562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1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вход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1C01EA-3B0D-F9B9-F9EA-42F1AE13B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020" y="1269524"/>
            <a:ext cx="8891960" cy="558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03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регистрация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ABE590-AA26-E924-E816-085F7BC8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664" y="1236662"/>
            <a:ext cx="7384672" cy="56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080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0"/>
            <a:ext cx="9173513" cy="1291430"/>
          </a:xfrm>
        </p:spPr>
        <p:txBody>
          <a:bodyPr anchor="ctr"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обновление токена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AEF22D-CCC1-BBD2-89CB-F473A2C8A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402" y="1291430"/>
            <a:ext cx="8283195" cy="556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197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</p:spPr>
        <p:txBody>
          <a:bodyPr/>
          <a:lstStyle/>
          <a:p>
            <a:r>
              <a:rPr lang="ru-RU" dirty="0"/>
              <a:t>Тесты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763CC638-8C8D-58F1-FD90-1BB34766B7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529913"/>
              </p:ext>
            </p:extLst>
          </p:nvPr>
        </p:nvGraphicFramePr>
        <p:xfrm>
          <a:off x="126124" y="2894639"/>
          <a:ext cx="5625663" cy="29337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84013">
                  <a:extLst>
                    <a:ext uri="{9D8B030D-6E8A-4147-A177-3AD203B41FA5}">
                      <a16:colId xmlns:a16="http://schemas.microsoft.com/office/drawing/2014/main" val="1916041671"/>
                    </a:ext>
                  </a:extLst>
                </a:gridCol>
                <a:gridCol w="3641650">
                  <a:extLst>
                    <a:ext uri="{9D8B030D-6E8A-4147-A177-3AD203B41FA5}">
                      <a16:colId xmlns:a16="http://schemas.microsoft.com/office/drawing/2014/main" val="24845420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Класс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Что проверяется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01128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 dirty="0" err="1">
                          <a:effectLst/>
                        </a:rPr>
                        <a:t>PromptBuilderTest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ru-RU" sz="2000" dirty="0">
                          <a:effectLst/>
                        </a:rPr>
                        <a:t>Промпт: стиль в </a:t>
                      </a:r>
                      <a:r>
                        <a:rPr lang="en" sz="2000" dirty="0">
                          <a:effectLst/>
                        </a:rPr>
                        <a:t>system, </a:t>
                      </a:r>
                      <a:r>
                        <a:rPr lang="ru-RU" sz="2000" dirty="0">
                          <a:effectLst/>
                        </a:rPr>
                        <a:t>описание в </a:t>
                      </a:r>
                      <a:r>
                        <a:rPr lang="en" sz="2000" dirty="0">
                          <a:effectLst/>
                        </a:rPr>
                        <a:t>user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9327631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TokenHashServiceTest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ru-RU" sz="2000" dirty="0">
                          <a:effectLst/>
                        </a:rPr>
                        <a:t>Создание и разбор </a:t>
                      </a:r>
                      <a:r>
                        <a:rPr lang="en" sz="2000" dirty="0">
                          <a:effectLst/>
                        </a:rPr>
                        <a:t>access JWT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944040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JwtServiceTest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SHA-256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хэш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refresh-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токена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90204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DtoMapperTest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Маппинг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enum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URL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портрета в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DTO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748177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03D915D2-9C0A-FAE9-79B3-8EAE2D166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534715"/>
              </p:ext>
            </p:extLst>
          </p:nvPr>
        </p:nvGraphicFramePr>
        <p:xfrm>
          <a:off x="6335110" y="2894639"/>
          <a:ext cx="5730766" cy="22288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92880">
                  <a:extLst>
                    <a:ext uri="{9D8B030D-6E8A-4147-A177-3AD203B41FA5}">
                      <a16:colId xmlns:a16="http://schemas.microsoft.com/office/drawing/2014/main" val="3380037856"/>
                    </a:ext>
                  </a:extLst>
                </a:gridCol>
                <a:gridCol w="3637886">
                  <a:extLst>
                    <a:ext uri="{9D8B030D-6E8A-4147-A177-3AD203B41FA5}">
                      <a16:colId xmlns:a16="http://schemas.microsoft.com/office/drawing/2014/main" val="29554429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Класс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kern="100" dirty="0">
                          <a:effectLst/>
                        </a:rPr>
                        <a:t>Что проверяется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84396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AuthIntegrationTest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" sz="2000" dirty="0">
                          <a:effectLst/>
                        </a:rPr>
                        <a:t>Register → Login → /me </a:t>
                      </a:r>
                      <a:r>
                        <a:rPr lang="ru-RU" sz="2000" dirty="0">
                          <a:effectLst/>
                        </a:rPr>
                        <a:t>с </a:t>
                      </a:r>
                      <a:r>
                        <a:rPr lang="en" sz="2000" dirty="0">
                          <a:effectLst/>
                        </a:rPr>
                        <a:t>cookies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654857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CharacterIntegrationTest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API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персонажей + </a:t>
                      </a:r>
                      <a:r>
                        <a:rPr lang="en" sz="2000" dirty="0"/>
                        <a:t>SELECT COUNT(*)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 БД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032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2000" kern="100">
                          <a:effectLst/>
                        </a:rPr>
                        <a:t>DdPersonApplicationTests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Старт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Spring-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контекста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43035093"/>
                  </a:ext>
                </a:extLst>
              </a:tr>
            </a:tbl>
          </a:graphicData>
        </a:graphic>
      </p:graphicFrame>
      <p:sp>
        <p:nvSpPr>
          <p:cNvPr id="9" name="Текст 2">
            <a:extLst>
              <a:ext uri="{FF2B5EF4-FFF2-40B4-BE49-F238E27FC236}">
                <a16:creationId xmlns:a16="http://schemas.microsoft.com/office/drawing/2014/main" id="{C756B4D6-3406-648D-B8E4-EFE766AE1FE9}"/>
              </a:ext>
            </a:extLst>
          </p:cNvPr>
          <p:cNvSpPr txBox="1">
            <a:spLocks/>
          </p:cNvSpPr>
          <p:nvPr/>
        </p:nvSpPr>
        <p:spPr>
          <a:xfrm>
            <a:off x="126124" y="1831989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 err="1"/>
              <a:t>U</a:t>
            </a:r>
            <a:r>
              <a:rPr lang="en-US" sz="2800" b="0" dirty="0"/>
              <a:t>nit (8 </a:t>
            </a:r>
            <a:r>
              <a:rPr lang="ru-RU" sz="2800" b="0" dirty="0"/>
              <a:t>тестов)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2C735643-F32C-0BE1-21CD-8939D6F75D6C}"/>
              </a:ext>
            </a:extLst>
          </p:cNvPr>
          <p:cNvSpPr txBox="1">
            <a:spLocks/>
          </p:cNvSpPr>
          <p:nvPr/>
        </p:nvSpPr>
        <p:spPr>
          <a:xfrm>
            <a:off x="6549844" y="1831989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b="0" dirty="0"/>
              <a:t>Integration (3 </a:t>
            </a:r>
            <a:r>
              <a:rPr lang="ru-RU" sz="2800" b="0" dirty="0"/>
              <a:t>теста)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457114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523220"/>
          </a:xfrm>
        </p:spPr>
        <p:txBody>
          <a:bodyPr/>
          <a:lstStyle/>
          <a:p>
            <a:r>
              <a:rPr lang="ru-RU" dirty="0"/>
              <a:t>Тесты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6674FB9A-29BF-3A2F-A911-095ECFF333CC}"/>
              </a:ext>
            </a:extLst>
          </p:cNvPr>
          <p:cNvSpPr txBox="1">
            <a:spLocks/>
          </p:cNvSpPr>
          <p:nvPr/>
        </p:nvSpPr>
        <p:spPr>
          <a:xfrm>
            <a:off x="559572" y="2154528"/>
            <a:ext cx="7610887" cy="2923877"/>
          </a:xfrm>
          <a:prstGeom prst="rect">
            <a:avLst/>
          </a:prstGeom>
        </p:spPr>
        <p:txBody>
          <a:bodyPr wrap="square" anchor="t">
            <a:spAutoFit/>
          </a:bodyPr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>
                <a:latin typeface="Montserrat" panose="00000500000000000000" pitchFamily="2" charset="-5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Что не покрыто </a:t>
            </a:r>
            <a:r>
              <a:rPr lang="ru-RU" dirty="0" err="1"/>
              <a:t>автотестами</a:t>
            </a:r>
            <a:endParaRPr lang="ru-RU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Вызовы </a:t>
            </a:r>
            <a:r>
              <a:rPr lang="ru-RU" sz="2000" dirty="0" err="1"/>
              <a:t>GigaChat</a:t>
            </a:r>
            <a:r>
              <a:rPr lang="ru-RU" sz="2000" dirty="0"/>
              <a:t> API (</a:t>
            </a:r>
            <a:r>
              <a:rPr lang="ru-RU" sz="2000" dirty="0" err="1"/>
              <a:t>OAuth</a:t>
            </a:r>
            <a:r>
              <a:rPr lang="ru-RU" sz="2000" dirty="0"/>
              <a:t>, генерация, скачивание JPG)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Frontend (React) — </a:t>
            </a:r>
            <a:r>
              <a:rPr lang="ru-RU" sz="2000" dirty="0"/>
              <a:t>нет</a:t>
            </a:r>
            <a:r>
              <a:rPr lang="en-US" sz="2000" dirty="0"/>
              <a:t> unit/e2e-</a:t>
            </a:r>
            <a:r>
              <a:rPr lang="ru-RU" sz="2000" dirty="0"/>
              <a:t>тестов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Асинхронный </a:t>
            </a:r>
            <a:r>
              <a:rPr lang="ru-RU" sz="2000" dirty="0" err="1"/>
              <a:t>pipeline</a:t>
            </a:r>
            <a:r>
              <a:rPr lang="ru-RU" sz="2000" dirty="0"/>
              <a:t> генерации и </a:t>
            </a:r>
            <a:r>
              <a:rPr lang="ru-RU" sz="2000" dirty="0" err="1"/>
              <a:t>polling</a:t>
            </a:r>
            <a:r>
              <a:rPr lang="ru-RU" sz="2000" dirty="0"/>
              <a:t> на клиенте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Избранное, история, удаление генераций, </a:t>
            </a:r>
            <a:r>
              <a:rPr lang="ru-RU" sz="2000" dirty="0" err="1"/>
              <a:t>rate</a:t>
            </a:r>
            <a:r>
              <a:rPr lang="ru-RU" sz="2000" dirty="0"/>
              <a:t> </a:t>
            </a:r>
            <a:r>
              <a:rPr lang="ru-RU" sz="2000" dirty="0" err="1"/>
              <a:t>limit</a:t>
            </a:r>
            <a:r>
              <a:rPr lang="ru-RU" sz="2000" dirty="0"/>
              <a:t> — только вручную</a:t>
            </a:r>
          </a:p>
        </p:txBody>
      </p:sp>
    </p:spTree>
    <p:extLst>
      <p:ext uri="{BB962C8B-B14F-4D97-AF65-F5344CB8AC3E}">
        <p14:creationId xmlns:p14="http://schemas.microsoft.com/office/powerpoint/2010/main" val="2660164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персонажей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32D6B9-B1BE-500F-C36D-BD7AB260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635" y="1550652"/>
            <a:ext cx="9650730" cy="494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генерации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81526C-BBF3-DE6E-F1F0-5802D9D89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28" y="1258570"/>
            <a:ext cx="7413943" cy="546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48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экранов авторизации и регистрации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5CF2D7-EE97-894B-1111-7DA7C6CB1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54" y="1618615"/>
            <a:ext cx="4938024" cy="459453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DCDD2F-8C66-897F-D167-932EAE815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34" y="1435734"/>
            <a:ext cx="4367551" cy="523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91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323057" y="1882244"/>
            <a:ext cx="5859740" cy="470898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Работающее веб-приложение для генерации </a:t>
            </a:r>
            <a:r>
              <a:rPr lang="en" sz="2000" dirty="0"/>
              <a:t>D&amp;D-</a:t>
            </a:r>
            <a:r>
              <a:rPr lang="ru-RU" sz="2000" dirty="0"/>
              <a:t>портретов через </a:t>
            </a:r>
            <a:r>
              <a:rPr lang="en" sz="2000" dirty="0" err="1"/>
              <a:t>GigaChat</a:t>
            </a:r>
            <a:endParaRPr lang="en" sz="2000" dirty="0"/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Полный цикл: авторизация → генерация → история → персонажи → избранное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en" sz="2000" dirty="0"/>
              <a:t>Backend (Spring Boot) + frontend (React), PostgreSQL, Redis, </a:t>
            </a:r>
            <a:r>
              <a:rPr lang="ru-RU" sz="2000" dirty="0"/>
              <a:t>хранение </a:t>
            </a:r>
            <a:r>
              <a:rPr lang="en" sz="2000" dirty="0"/>
              <a:t>JPG </a:t>
            </a:r>
            <a:r>
              <a:rPr lang="ru-RU" sz="2000" dirty="0"/>
              <a:t>на диске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Асинхронная генерация, лимиты запросов, аудит вызовов </a:t>
            </a:r>
            <a:r>
              <a:rPr lang="en" sz="2000" dirty="0"/>
              <a:t>API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Документация: архитектура, </a:t>
            </a:r>
            <a:r>
              <a:rPr lang="en" sz="2000" dirty="0"/>
              <a:t>ER-</a:t>
            </a:r>
            <a:r>
              <a:rPr lang="ru-RU" sz="2000" dirty="0"/>
              <a:t>диаграмма, </a:t>
            </a:r>
            <a:r>
              <a:rPr lang="en" sz="2000" dirty="0"/>
              <a:t>use-case, sequence-</a:t>
            </a:r>
            <a:r>
              <a:rPr lang="ru-RU" sz="2000" dirty="0"/>
              <a:t>диаграммы, инструкция запуска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096000" y="2358947"/>
            <a:ext cx="5749916" cy="4093428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Деплой в </a:t>
            </a:r>
            <a:r>
              <a:rPr lang="en" sz="2000" dirty="0"/>
              <a:t>production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Очередь задач (</a:t>
            </a:r>
            <a:r>
              <a:rPr lang="en" sz="2000" dirty="0"/>
              <a:t>RabbitMQ/Kafka) </a:t>
            </a:r>
            <a:r>
              <a:rPr lang="ru-RU" sz="2000" dirty="0"/>
              <a:t>вместо @</a:t>
            </a:r>
            <a:r>
              <a:rPr lang="en" sz="2000" dirty="0"/>
              <a:t>Async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Планировщик задач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Хранения картинок в </a:t>
            </a:r>
            <a:r>
              <a:rPr lang="ru-RU" sz="2000" dirty="0" err="1"/>
              <a:t>S</a:t>
            </a:r>
            <a:r>
              <a:rPr lang="en" sz="2000" dirty="0"/>
              <a:t>3</a:t>
            </a:r>
            <a:endParaRPr lang="ru-RU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Добавление команды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Экспорт</a:t>
            </a:r>
            <a:r>
              <a:rPr lang="en-US" sz="2000" dirty="0"/>
              <a:t>/</a:t>
            </a:r>
            <a:r>
              <a:rPr lang="en-US" sz="2000" dirty="0" err="1"/>
              <a:t>и</a:t>
            </a:r>
            <a:r>
              <a:rPr lang="ru-RU" sz="2000" dirty="0" err="1"/>
              <a:t>мпорт</a:t>
            </a:r>
            <a:r>
              <a:rPr lang="ru-RU" sz="2000" dirty="0"/>
              <a:t> персонажей и портретов (</a:t>
            </a:r>
            <a:r>
              <a:rPr lang="en" sz="2000" dirty="0"/>
              <a:t>PDF, </a:t>
            </a:r>
            <a:r>
              <a:rPr lang="ru-RU" sz="2000" dirty="0"/>
              <a:t>архив)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Поддержка нескольких моделей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Монетизация (покупка генерации)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Интеграция с самой игрой </a:t>
            </a:r>
            <a:r>
              <a:rPr lang="en-US" sz="2000" dirty="0"/>
              <a:t>D&amp;D</a:t>
            </a:r>
            <a:endParaRPr lang="en" sz="2000" dirty="0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9" y="1359024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1" y="1359024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414614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3249145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16230</TotalTime>
  <Words>523</Words>
  <Application>Microsoft Macintosh PowerPoint</Application>
  <PresentationFormat>Широкоэкранный</PresentationFormat>
  <Paragraphs>117</Paragraphs>
  <Slides>18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5" baseType="lpstr">
      <vt:lpstr>Wingdings</vt:lpstr>
      <vt:lpstr>Arial</vt:lpstr>
      <vt:lpstr>Times New Roman</vt:lpstr>
      <vt:lpstr>Montserrat</vt:lpstr>
      <vt:lpstr>Calibri</vt:lpstr>
      <vt:lpstr>AvenirNextCyr-Regular</vt:lpstr>
      <vt:lpstr>Шаблон МИФИ</vt:lpstr>
      <vt:lpstr>Презентация PowerPoint</vt:lpstr>
      <vt:lpstr>Презентация PowerPoint</vt:lpstr>
      <vt:lpstr>Описание проделанной работы</vt:lpstr>
      <vt:lpstr>Реализованный функционал</vt:lpstr>
      <vt:lpstr>Паттерны проектирования</vt:lpstr>
      <vt:lpstr>Диаграмма архитектуры</vt:lpstr>
      <vt:lpstr>ER-диаграмма</vt:lpstr>
      <vt:lpstr>Диаграмма последовательности запроса</vt:lpstr>
      <vt:lpstr>Диаграмма последовательности вход</vt:lpstr>
      <vt:lpstr>Диаграмма последовательности регистрация</vt:lpstr>
      <vt:lpstr>Диаграмма последовательности обновление токена</vt:lpstr>
      <vt:lpstr>Тесты</vt:lpstr>
      <vt:lpstr>Тесты</vt:lpstr>
      <vt:lpstr>Пример экрана персонажей</vt:lpstr>
      <vt:lpstr>Пример экрана генерации</vt:lpstr>
      <vt:lpstr>Пример экранов авторизации и регистрации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Николаев Георгий Александрович</cp:lastModifiedBy>
  <cp:revision>503</cp:revision>
  <dcterms:created xsi:type="dcterms:W3CDTF">2020-05-28T16:18:16Z</dcterms:created>
  <dcterms:modified xsi:type="dcterms:W3CDTF">2026-06-13T09:12:11Z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