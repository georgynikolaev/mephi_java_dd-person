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13"/>
  </p:notesMasterIdLst>
  <p:sldIdLst>
    <p:sldId id="256" r:id="rId2"/>
    <p:sldId id="262" r:id="rId3"/>
    <p:sldId id="522" r:id="rId4"/>
    <p:sldId id="523" r:id="rId5"/>
    <p:sldId id="503" r:id="rId6"/>
    <p:sldId id="505" r:id="rId7"/>
    <p:sldId id="524" r:id="rId8"/>
    <p:sldId id="508" r:id="rId9"/>
    <p:sldId id="525" r:id="rId10"/>
    <p:sldId id="519" r:id="rId11"/>
    <p:sldId id="501" r:id="rId12"/>
  </p:sldIdLst>
  <p:sldSz cx="12192000" cy="6858000"/>
  <p:notesSz cx="6858000" cy="9144000"/>
  <p:embeddedFontLst>
    <p:embeddedFont>
      <p:font typeface="AvenirNextCyr-Regular" panose="020B0503020202020204" pitchFamily="34" charset="0"/>
      <p:regular r:id="rId14"/>
    </p:embeddedFon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Montserrat" pitchFamily="2" charset="0"/>
      <p:regular r:id="rId19"/>
      <p:bold r:id="rId20"/>
      <p:italic r:id="rId21"/>
      <p:boldItalic r:id="rId2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41"/>
    <p:restoredTop sz="94901"/>
  </p:normalViewPr>
  <p:slideViewPr>
    <p:cSldViewPr snapToGrid="0" showGuides="1">
      <p:cViewPr varScale="1">
        <p:scale>
          <a:sx n="116" d="100"/>
          <a:sy n="116" d="100"/>
        </p:scale>
        <p:origin x="408" y="19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09.05.2026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Поменять вторую цитату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0867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67150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3694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64773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3"/>
            <a:ext cx="6408165" cy="461665"/>
          </a:xfrm>
        </p:spPr>
        <p:txBody>
          <a:bodyPr/>
          <a:lstStyle/>
          <a:p>
            <a:r>
              <a:rPr lang="ru-RU" b="1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81995"/>
            <a:ext cx="8234671" cy="1200329"/>
          </a:xfrm>
        </p:spPr>
        <p:txBody>
          <a:bodyPr/>
          <a:lstStyle/>
          <a:p>
            <a:r>
              <a:rPr lang="ru-RU" dirty="0"/>
              <a:t>Управление ресурсами больниц во время эпидемии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6F0F154E-4D2A-4B91-3624-EF918C6DF6B1}"/>
              </a:ext>
            </a:extLst>
          </p:cNvPr>
          <p:cNvSpPr txBox="1">
            <a:spLocks/>
          </p:cNvSpPr>
          <p:nvPr/>
        </p:nvSpPr>
        <p:spPr>
          <a:xfrm>
            <a:off x="560193" y="5157950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студент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1600" dirty="0"/>
              <a:t>3 курса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97C1AFA-BFB5-AA61-C80D-F647F65F6CF5}"/>
              </a:ext>
            </a:extLst>
          </p:cNvPr>
          <p:cNvSpPr txBox="1">
            <a:spLocks/>
          </p:cNvSpPr>
          <p:nvPr/>
        </p:nvSpPr>
        <p:spPr>
          <a:xfrm>
            <a:off x="560193" y="5556393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НИЯУ МИФИ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568F51-1C76-5243-1466-F5DDE928F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27541"/>
            <a:ext cx="9173513" cy="954107"/>
          </a:xfrm>
        </p:spPr>
        <p:txBody>
          <a:bodyPr/>
          <a:lstStyle/>
          <a:p>
            <a:r>
              <a:rPr lang="ru-RU" dirty="0"/>
              <a:t>Актуальность проблемы управления ресурсами во время эпидемии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2478936-9FA2-FF39-31DB-4B2B751FC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1" y="2264834"/>
            <a:ext cx="4236156" cy="317711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9C571C-7D20-8A3D-B45A-345419BDE884}"/>
              </a:ext>
            </a:extLst>
          </p:cNvPr>
          <p:cNvSpPr txBox="1"/>
          <p:nvPr/>
        </p:nvSpPr>
        <p:spPr>
          <a:xfrm>
            <a:off x="559572" y="1829838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i="1" dirty="0">
                <a:latin typeface="Calibri" panose="020F0502020204030204" pitchFamily="34" charset="0"/>
                <a:cs typeface="Calibri" panose="020F0502020204030204" pitchFamily="34" charset="0"/>
              </a:rPr>
              <a:t>«В Ухане 10 временных больниц были реконструированы из спортивных залов и выставочных центров»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1AEC-440B-F51C-F24D-432B846262B2}"/>
              </a:ext>
            </a:extLst>
          </p:cNvPr>
          <p:cNvSpPr txBox="1"/>
          <p:nvPr/>
        </p:nvSpPr>
        <p:spPr>
          <a:xfrm>
            <a:off x="559572" y="3030167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400" dirty="0">
                <a:solidFill>
                  <a:schemeClr val="accent6">
                    <a:lumMod val="75000"/>
                  </a:schemeClr>
                </a:solidFill>
              </a:rPr>
              <a:t>Report of the WHO-China Joint Mission on Coronavirus Disease 2019 (COVID-19)</a:t>
            </a:r>
            <a:r>
              <a:rPr lang="ru-RU" sz="1400" dirty="0">
                <a:solidFill>
                  <a:schemeClr val="accent6">
                    <a:lumMod val="75000"/>
                  </a:schemeClr>
                </a:solidFill>
              </a:rPr>
              <a:t>, 2020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A6479C-DB3B-293C-2113-B3775C73E4A0}"/>
              </a:ext>
            </a:extLst>
          </p:cNvPr>
          <p:cNvSpPr txBox="1"/>
          <p:nvPr/>
        </p:nvSpPr>
        <p:spPr>
          <a:xfrm>
            <a:off x="559572" y="3853392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i="1" dirty="0">
                <a:latin typeface="Calibri" panose="020F0502020204030204" pitchFamily="34" charset="0"/>
                <a:cs typeface="Calibri" panose="020F0502020204030204" pitchFamily="34" charset="0"/>
              </a:rPr>
              <a:t>«Кризис выявил необходимость перехода от реактивных мер к </a:t>
            </a:r>
            <a:r>
              <a:rPr lang="ru-RU" sz="2400" i="1" dirty="0" err="1">
                <a:latin typeface="Calibri" panose="020F0502020204030204" pitchFamily="34" charset="0"/>
                <a:cs typeface="Calibri" panose="020F0502020204030204" pitchFamily="34" charset="0"/>
              </a:rPr>
              <a:t>проактивным</a:t>
            </a:r>
            <a:r>
              <a:rPr lang="ru-RU" sz="2400" i="1" dirty="0">
                <a:latin typeface="Calibri" panose="020F0502020204030204" pitchFamily="34" charset="0"/>
                <a:cs typeface="Calibri" panose="020F0502020204030204" pitchFamily="34" charset="0"/>
              </a:rPr>
              <a:t> стратегиям, что наиболее ярко проявилось в трансформации эпидемиологического надзора»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734B3E-75F7-1330-F4C3-7DA29C8FC251}"/>
              </a:ext>
            </a:extLst>
          </p:cNvPr>
          <p:cNvSpPr txBox="1"/>
          <p:nvPr/>
        </p:nvSpPr>
        <p:spPr>
          <a:xfrm>
            <a:off x="559572" y="578652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accent6">
                    <a:lumMod val="75000"/>
                  </a:schemeClr>
                </a:solidFill>
              </a:rPr>
              <a:t>Глобальные изменения стратегий инфекционного контроля: уроки пандемии </a:t>
            </a:r>
            <a:r>
              <a:rPr lang="en" sz="1400" dirty="0">
                <a:solidFill>
                  <a:schemeClr val="accent6">
                    <a:lumMod val="75000"/>
                  </a:schemeClr>
                </a:solidFill>
              </a:rPr>
              <a:t>COVID-19</a:t>
            </a:r>
            <a:r>
              <a:rPr lang="ru-RU" sz="1400" dirty="0">
                <a:solidFill>
                  <a:schemeClr val="accent6">
                    <a:lumMod val="75000"/>
                  </a:schemeClr>
                </a:solidFill>
              </a:rPr>
              <a:t>, 2025</a:t>
            </a:r>
          </a:p>
        </p:txBody>
      </p:sp>
    </p:spTree>
    <p:extLst>
      <p:ext uri="{BB962C8B-B14F-4D97-AF65-F5344CB8AC3E}">
        <p14:creationId xmlns:p14="http://schemas.microsoft.com/office/powerpoint/2010/main" val="3641547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A6E91C7-21D3-F7F1-FD23-0D183379BE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797" y="233882"/>
            <a:ext cx="5766431" cy="646331"/>
          </a:xfrm>
        </p:spPr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19F354F7-19E1-1818-469C-478228DD3D71}"/>
              </a:ext>
            </a:extLst>
          </p:cNvPr>
          <p:cNvSpPr txBox="1">
            <a:spLocks/>
          </p:cNvSpPr>
          <p:nvPr/>
        </p:nvSpPr>
        <p:spPr>
          <a:xfrm>
            <a:off x="2737191" y="2228671"/>
            <a:ext cx="6717618" cy="34163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ru-RU" sz="2800" dirty="0">
                <a:solidFill>
                  <a:schemeClr val="tx1"/>
                </a:solidFill>
              </a:rPr>
              <a:t>Построить реалистичную гибридную модель эпидемии</a:t>
            </a:r>
          </a:p>
          <a:p>
            <a:pPr marL="514350" indent="-514350">
              <a:buFont typeface="+mj-lt"/>
              <a:buAutoNum type="arabicPeriod"/>
            </a:pPr>
            <a:endParaRPr lang="ru-RU" sz="2800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solidFill>
                  <a:schemeClr val="tx1"/>
                </a:solidFill>
              </a:rPr>
              <a:t>Разработать методы управления больницами</a:t>
            </a:r>
          </a:p>
          <a:p>
            <a:pPr marL="514350" indent="-514350">
              <a:buFont typeface="+mj-lt"/>
              <a:buAutoNum type="arabicPeriod"/>
            </a:pPr>
            <a:endParaRPr lang="ru-RU" sz="2800" dirty="0">
              <a:solidFill>
                <a:schemeClr val="tx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800" dirty="0">
                <a:solidFill>
                  <a:schemeClr val="tx1"/>
                </a:solidFill>
              </a:rPr>
              <a:t>Сравнить эти методы</a:t>
            </a:r>
          </a:p>
        </p:txBody>
      </p:sp>
    </p:spTree>
    <p:extLst>
      <p:ext uri="{BB962C8B-B14F-4D97-AF65-F5344CB8AC3E}">
        <p14:creationId xmlns:p14="http://schemas.microsoft.com/office/powerpoint/2010/main" val="900971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</a:t>
            </a:r>
            <a:r>
              <a:rPr lang="en-US" dirty="0"/>
              <a:t> </a:t>
            </a:r>
            <a:r>
              <a:rPr lang="ru-RU" dirty="0"/>
              <a:t>моделирования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E3EE9142-899C-C9CA-D57A-910B2C555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386" y="2481674"/>
            <a:ext cx="4452331" cy="3000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Текст 3">
            <a:extLst>
              <a:ext uri="{FF2B5EF4-FFF2-40B4-BE49-F238E27FC236}">
                <a16:creationId xmlns:a16="http://schemas.microsoft.com/office/drawing/2014/main" id="{FF6DE1FC-522E-D5DD-1E3F-1F343C703BBD}"/>
              </a:ext>
            </a:extLst>
          </p:cNvPr>
          <p:cNvSpPr txBox="1">
            <a:spLocks/>
          </p:cNvSpPr>
          <p:nvPr/>
        </p:nvSpPr>
        <p:spPr>
          <a:xfrm>
            <a:off x="5146328" y="1519872"/>
            <a:ext cx="6333485" cy="192360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System Dynamics (SD)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2000" dirty="0"/>
              <a:t>Модель SEIR-H-C-D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2000" dirty="0"/>
              <a:t>Прогнозирование эпидемиологической ситуации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2000" dirty="0"/>
              <a:t>Генерация входного потока пациентов</a:t>
            </a:r>
          </a:p>
        </p:txBody>
      </p:sp>
      <p:sp>
        <p:nvSpPr>
          <p:cNvPr id="15" name="Текст 3">
            <a:extLst>
              <a:ext uri="{FF2B5EF4-FFF2-40B4-BE49-F238E27FC236}">
                <a16:creationId xmlns:a16="http://schemas.microsoft.com/office/drawing/2014/main" id="{7BB07D8B-3D9B-85EB-FF77-AF442917213E}"/>
              </a:ext>
            </a:extLst>
          </p:cNvPr>
          <p:cNvSpPr txBox="1">
            <a:spLocks/>
          </p:cNvSpPr>
          <p:nvPr/>
        </p:nvSpPr>
        <p:spPr>
          <a:xfrm>
            <a:off x="5146328" y="3862505"/>
            <a:ext cx="6831725" cy="230832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 err="1"/>
              <a:t>Discrete</a:t>
            </a:r>
            <a:r>
              <a:rPr lang="ru-RU" sz="2400" dirty="0"/>
              <a:t> Event </a:t>
            </a:r>
            <a:r>
              <a:rPr lang="ru-RU" sz="2400" dirty="0" err="1"/>
              <a:t>Simulation</a:t>
            </a:r>
            <a:r>
              <a:rPr lang="ru-RU" sz="2400" dirty="0"/>
              <a:t> (DES)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Имитация работы больницы как системы массового обслуживания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Качество работы больниц влияет на эпидемию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Моделирование использования коек и ИВЛ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Учет очередей и перегрузок</a:t>
            </a:r>
          </a:p>
        </p:txBody>
      </p:sp>
    </p:spTree>
    <p:extLst>
      <p:ext uri="{BB962C8B-B14F-4D97-AF65-F5344CB8AC3E}">
        <p14:creationId xmlns:p14="http://schemas.microsoft.com/office/powerpoint/2010/main" val="2145370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1477-8F7C-3DDA-5612-30D31141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EEC58-F564-EDEB-B99A-22F53D032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 </a:t>
            </a:r>
            <a:r>
              <a:rPr lang="ru-RU" dirty="0"/>
              <a:t>модель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168F8E-F6FA-9981-0C46-E73871064A7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7054" y="1362838"/>
            <a:ext cx="4653425" cy="500643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Текст 3">
            <a:extLst>
              <a:ext uri="{FF2B5EF4-FFF2-40B4-BE49-F238E27FC236}">
                <a16:creationId xmlns:a16="http://schemas.microsoft.com/office/drawing/2014/main" id="{A4619560-6C37-DF8A-BAE4-9398EB19FC5E}"/>
              </a:ext>
            </a:extLst>
          </p:cNvPr>
          <p:cNvSpPr txBox="1">
            <a:spLocks/>
          </p:cNvSpPr>
          <p:nvPr/>
        </p:nvSpPr>
        <p:spPr>
          <a:xfrm>
            <a:off x="559572" y="2711891"/>
            <a:ext cx="6333485" cy="230832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Позволяет оценить: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Скорость передачи заболевания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Долю зараженных в популяции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Ежедневное количество новых случаев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Требуемое количество госпитализаций и тяжелобольных</a:t>
            </a:r>
          </a:p>
        </p:txBody>
      </p:sp>
    </p:spTree>
    <p:extLst>
      <p:ext uri="{BB962C8B-B14F-4D97-AF65-F5344CB8AC3E}">
        <p14:creationId xmlns:p14="http://schemas.microsoft.com/office/powerpoint/2010/main" val="3718815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 </a:t>
            </a:r>
            <a:r>
              <a:rPr lang="ru-RU" dirty="0"/>
              <a:t>модель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660624" y="1618560"/>
            <a:ext cx="4234514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400" dirty="0"/>
              <a:t>Процесс поступления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C343AC-0D98-A7B0-84E5-BA986F27EC11}"/>
              </a:ext>
            </a:extLst>
          </p:cNvPr>
          <p:cNvSpPr txBox="1">
            <a:spLocks/>
          </p:cNvSpPr>
          <p:nvPr/>
        </p:nvSpPr>
        <p:spPr>
          <a:xfrm>
            <a:off x="6439833" y="1618559"/>
            <a:ext cx="5242855" cy="46166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Запись конкретного пациента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669412F-70C5-481D-E257-A5BA531816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810" y="2200864"/>
            <a:ext cx="3778100" cy="3885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D2B8F130-0771-811A-B2B6-40C535727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833" y="2080224"/>
            <a:ext cx="4954224" cy="4298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300" dirty="0"/>
              <a:t>TTM</a:t>
            </a:r>
            <a:endParaRPr lang="ru-RU" spc="300" dirty="0"/>
          </a:p>
        </p:txBody>
      </p:sp>
      <p:sp>
        <p:nvSpPr>
          <p:cNvPr id="2" name="Текст 3">
            <a:extLst>
              <a:ext uri="{FF2B5EF4-FFF2-40B4-BE49-F238E27FC236}">
                <a16:creationId xmlns:a16="http://schemas.microsoft.com/office/drawing/2014/main" id="{148C79DE-D8B3-9842-B890-C85915E601EC}"/>
              </a:ext>
            </a:extLst>
          </p:cNvPr>
          <p:cNvSpPr txBox="1">
            <a:spLocks/>
          </p:cNvSpPr>
          <p:nvPr/>
        </p:nvSpPr>
        <p:spPr>
          <a:xfrm>
            <a:off x="7380788" y="2828663"/>
            <a:ext cx="4548454" cy="2554545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10 возможных действий агента: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Ничего не делать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Купить/освободить койки (5, 10) или ИВЛ (1, 5)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Законсервировать койки (5, 10) или ИВЛ (1, 5)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Срочно выделить бюджет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739F60-E862-5B6A-116C-C483ABE59160}"/>
              </a:ext>
            </a:extLst>
          </p:cNvPr>
          <p:cNvSpPr txBox="1"/>
          <p:nvPr/>
        </p:nvSpPr>
        <p:spPr>
          <a:xfrm>
            <a:off x="559572" y="1712973"/>
            <a:ext cx="6618994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2000" dirty="0">
                <a:latin typeface="Montserrat" panose="00000500000000000000" pitchFamily="2" charset="-52"/>
              </a:rPr>
              <a:t>На основе прогноза на 1, 3 и 7 дней определяем тренд эпидемии: восходящий, нисходящий или без изменений. Это нужно для выставления пороговых значений для пяти областей: дефицит, терпимое, нормальное, приемлемое, избыток</a:t>
            </a:r>
          </a:p>
          <a:p>
            <a:pPr marL="342900" lvl="0" indent="-342900">
              <a:spcBef>
                <a:spcPts val="600"/>
              </a:spcBef>
              <a:buFont typeface="+mj-lt"/>
              <a:buAutoNum type="arabicPeriod"/>
            </a:pPr>
            <a:endParaRPr lang="ru-RU" sz="2000" dirty="0">
              <a:latin typeface="Montserrat" panose="00000500000000000000" pitchFamily="2" charset="-52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ru-RU" sz="2000" dirty="0">
                <a:latin typeface="Montserrat" panose="00000500000000000000" pitchFamily="2" charset="-52"/>
              </a:rPr>
              <a:t>Определяем долю свободных коек и аппаратов ИВЛ и решаем с чем будем работать</a:t>
            </a:r>
          </a:p>
          <a:p>
            <a:pPr marL="342900" lvl="0" indent="-342900">
              <a:buFont typeface="+mj-lt"/>
              <a:buAutoNum type="arabicPeriod"/>
            </a:pPr>
            <a:endParaRPr lang="ru-RU" sz="2000" dirty="0">
              <a:latin typeface="Montserrat" panose="00000500000000000000" pitchFamily="2" charset="-52"/>
            </a:endParaRPr>
          </a:p>
          <a:p>
            <a:pPr marL="342900" lvl="0" indent="-342900">
              <a:buFont typeface="+mj-lt"/>
              <a:buAutoNum type="arabicPeriod"/>
            </a:pPr>
            <a:r>
              <a:rPr lang="ru-RU" sz="2000" dirty="0">
                <a:latin typeface="Montserrat" panose="00000500000000000000" pitchFamily="2" charset="-52"/>
              </a:rPr>
              <a:t>Находим в какую область попадает доля свободных коек и принимаем решение. Если нужно купить койки, а бюджета нет, то принимаем решение выделить бюджет.</a:t>
            </a:r>
          </a:p>
        </p:txBody>
      </p:sp>
    </p:spTree>
    <p:extLst>
      <p:ext uri="{BB962C8B-B14F-4D97-AF65-F5344CB8AC3E}">
        <p14:creationId xmlns:p14="http://schemas.microsoft.com/office/powerpoint/2010/main" val="223874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RL-</a:t>
            </a:r>
            <a:r>
              <a:rPr lang="en-US" dirty="0" err="1"/>
              <a:t>а</a:t>
            </a:r>
            <a:r>
              <a:rPr lang="ru-RU" dirty="0" err="1"/>
              <a:t>гент</a:t>
            </a:r>
            <a:endParaRPr lang="ru-RU" dirty="0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2B58FE2-58C5-0016-99DF-8DB392E37A43}"/>
              </a:ext>
            </a:extLst>
          </p:cNvPr>
          <p:cNvSpPr txBox="1">
            <a:spLocks/>
          </p:cNvSpPr>
          <p:nvPr/>
        </p:nvSpPr>
        <p:spPr>
          <a:xfrm>
            <a:off x="559572" y="1565087"/>
            <a:ext cx="7025172" cy="2000548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Ключевые состояния, известные агенту: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День и эпидемиологическая ситуация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Количество занятых/свободных коек и ИВЛ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Бюджет и расходы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Прогноз на 1, 3 и 7 дней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ED0802-D5B7-81D2-DDDA-86E64657C491}"/>
              </a:ext>
            </a:extLst>
          </p:cNvPr>
          <p:cNvSpPr txBox="1"/>
          <p:nvPr/>
        </p:nvSpPr>
        <p:spPr>
          <a:xfrm>
            <a:off x="5146328" y="3885775"/>
            <a:ext cx="702517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ru-RU" sz="2400" dirty="0">
                <a:latin typeface="Montserrat" panose="00000500000000000000" pitchFamily="2" charset="-52"/>
              </a:rPr>
              <a:t>Ключевые принципы функции награды: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dirty="0">
                <a:latin typeface="Montserrat" panose="00000500000000000000" pitchFamily="2" charset="-52"/>
              </a:rPr>
              <a:t>Сильные штрафы за критические исходы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dirty="0">
                <a:latin typeface="Montserrat" panose="00000500000000000000" pitchFamily="2" charset="-52"/>
              </a:rPr>
              <a:t>Поддержание оптимальной загрузки ресурсов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dirty="0">
                <a:latin typeface="Montserrat" panose="00000500000000000000" pitchFamily="2" charset="-52"/>
              </a:rPr>
              <a:t>Финансовая устойчивость</a:t>
            </a:r>
          </a:p>
          <a:p>
            <a:pPr marL="342900" lvl="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ru-RU" sz="2000" dirty="0">
                <a:latin typeface="Montserrat" panose="00000500000000000000" pitchFamily="2" charset="-52"/>
              </a:rPr>
              <a:t>Контекстная оценка действий</a:t>
            </a:r>
          </a:p>
        </p:txBody>
      </p:sp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603F2DEF-9249-E6F0-E38E-E9E371FEA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986623"/>
              </p:ext>
            </p:extLst>
          </p:nvPr>
        </p:nvGraphicFramePr>
        <p:xfrm>
          <a:off x="0" y="1921210"/>
          <a:ext cx="6190735" cy="42594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33135">
                  <a:extLst>
                    <a:ext uri="{9D8B030D-6E8A-4147-A177-3AD203B41FA5}">
                      <a16:colId xmlns:a16="http://schemas.microsoft.com/office/drawing/2014/main" val="1117529539"/>
                    </a:ext>
                  </a:extLst>
                </a:gridCol>
                <a:gridCol w="1322173">
                  <a:extLst>
                    <a:ext uri="{9D8B030D-6E8A-4147-A177-3AD203B41FA5}">
                      <a16:colId xmlns:a16="http://schemas.microsoft.com/office/drawing/2014/main" val="40528907"/>
                    </a:ext>
                  </a:extLst>
                </a:gridCol>
                <a:gridCol w="1161535">
                  <a:extLst>
                    <a:ext uri="{9D8B030D-6E8A-4147-A177-3AD203B41FA5}">
                      <a16:colId xmlns:a16="http://schemas.microsoft.com/office/drawing/2014/main" val="2897526332"/>
                    </a:ext>
                  </a:extLst>
                </a:gridCol>
                <a:gridCol w="1173892">
                  <a:extLst>
                    <a:ext uri="{9D8B030D-6E8A-4147-A177-3AD203B41FA5}">
                      <a16:colId xmlns:a16="http://schemas.microsoft.com/office/drawing/2014/main" val="1969111394"/>
                    </a:ext>
                  </a:extLst>
                </a:gridCol>
              </a:tblGrid>
              <a:tr h="30433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Показатель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 err="1">
                          <a:effectLst/>
                        </a:rPr>
                        <a:t>Static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TTM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RL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10268535"/>
                  </a:ext>
                </a:extLst>
              </a:tr>
              <a:tr h="445159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Принято пациентов, чел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3 490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3 426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4 187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138265147"/>
                  </a:ext>
                </a:extLst>
              </a:tr>
              <a:tr h="50098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Отказы всего, чел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4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004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3 118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184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978050762"/>
                  </a:ext>
                </a:extLst>
              </a:tr>
              <a:tr h="39626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Смерти всего, чел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906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756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591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1587882975"/>
                  </a:ext>
                </a:extLst>
              </a:tr>
              <a:tr h="500981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Средняя загрузка коек, %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3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8,8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75,8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80,1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2955570096"/>
                  </a:ext>
                </a:extLst>
              </a:tr>
              <a:tr h="44567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Средняя загрузка ИВЛ, %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46,4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65,1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6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4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,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6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192619681"/>
                  </a:ext>
                </a:extLst>
              </a:tr>
              <a:tr h="48939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Общие расходы, млн у.е.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311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2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11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indent="18034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</a:rPr>
                        <a:t>2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96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3804627876"/>
                  </a:ext>
                </a:extLst>
              </a:tr>
              <a:tr h="4493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1800" dirty="0">
                          <a:effectLst/>
                        </a:rPr>
                        <a:t>Стоимость одной жизни, у.е.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6 549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4 760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</a:rPr>
                        <a:t>6 028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0922" marR="90922" marT="0" marB="0"/>
                </a:tc>
                <a:extLst>
                  <a:ext uri="{0D108BD9-81ED-4DB2-BD59-A6C34878D82A}">
                    <a16:rowId xmlns:a16="http://schemas.microsoft.com/office/drawing/2014/main" val="826813320"/>
                  </a:ext>
                </a:extLst>
              </a:tr>
            </a:tbl>
          </a:graphicData>
        </a:graphic>
      </p:graphicFrame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E1A312C-B6A7-E862-EC10-81476A5E27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90" t="50445"/>
          <a:stretch/>
        </p:blipFill>
        <p:spPr>
          <a:xfrm>
            <a:off x="6365797" y="3493855"/>
            <a:ext cx="5826203" cy="336414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039A278-1311-478A-DEFD-59F6D5A1BB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445" r="50009"/>
          <a:stretch/>
        </p:blipFill>
        <p:spPr>
          <a:xfrm>
            <a:off x="6366115" y="0"/>
            <a:ext cx="5823949" cy="3364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32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236260" y="2358947"/>
            <a:ext cx="5859740" cy="309315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Wingdings" pitchFamily="2" charset="2"/>
              <a:buChar char="ü"/>
            </a:pPr>
            <a:r>
              <a:rPr lang="ru-RU" sz="2000" dirty="0"/>
              <a:t>Построена комплексная модель эпидемии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ru-RU" sz="2000" dirty="0"/>
              <a:t>Разработаны методы управления ресурсами больниц 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ru-RU" sz="2000" dirty="0"/>
              <a:t>RL-агент снижает смертность на 22% и количество отказов на 94%</a:t>
            </a:r>
          </a:p>
          <a:p>
            <a:pPr marL="285750" indent="-285750">
              <a:buFont typeface="Wingdings" pitchFamily="2" charset="2"/>
              <a:buChar char="ü"/>
            </a:pPr>
            <a:r>
              <a:rPr lang="ru-RU" sz="2000" dirty="0"/>
              <a:t>Повышение эффективности использования ресурсов (80,</a:t>
            </a:r>
            <a:r>
              <a:rPr lang="en-US" sz="2000" dirty="0"/>
              <a:t>1</a:t>
            </a:r>
            <a:r>
              <a:rPr lang="ru-RU" sz="2000" dirty="0"/>
              <a:t>% загрузка коек против </a:t>
            </a:r>
            <a:r>
              <a:rPr lang="en-US" sz="2000" dirty="0"/>
              <a:t>75,8</a:t>
            </a:r>
            <a:r>
              <a:rPr lang="ru-RU" sz="2000" dirty="0"/>
              <a:t>%)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096000" y="2358947"/>
            <a:ext cx="5749916" cy="340093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Сбор реальных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Расширение функционала для учета дополнительных факторов (персонал, лекарства, месторасположение)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Адаптация для других типов чрезвычайных ситуаций в здравоохранении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Интеграция модели в системы поддержки принятия решений для реальных больниц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0" y="1616122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2" y="1616122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3249145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15996</TotalTime>
  <Words>504</Words>
  <Application>Microsoft Macintosh PowerPoint</Application>
  <PresentationFormat>Широкоэкранный</PresentationFormat>
  <Paragraphs>109</Paragraphs>
  <Slides>11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AvenirNextCyr-Regular</vt:lpstr>
      <vt:lpstr>Times New Roman</vt:lpstr>
      <vt:lpstr>Calibri</vt:lpstr>
      <vt:lpstr>Wingdings</vt:lpstr>
      <vt:lpstr>Montserrat</vt:lpstr>
      <vt:lpstr>Шаблон МИФИ</vt:lpstr>
      <vt:lpstr>Презентация PowerPoint</vt:lpstr>
      <vt:lpstr>Актуальность проблемы управления ресурсами во время эпидемии</vt:lpstr>
      <vt:lpstr>Презентация PowerPoint</vt:lpstr>
      <vt:lpstr>Методы моделирования</vt:lpstr>
      <vt:lpstr>SD модель</vt:lpstr>
      <vt:lpstr>DES модель</vt:lpstr>
      <vt:lpstr>TTM</vt:lpstr>
      <vt:lpstr>RL-агент</vt:lpstr>
      <vt:lpstr>Результаты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Николаев Георгий Александрович</cp:lastModifiedBy>
  <cp:revision>488</cp:revision>
  <dcterms:created xsi:type="dcterms:W3CDTF">2020-05-28T16:18:16Z</dcterms:created>
  <dcterms:modified xsi:type="dcterms:W3CDTF">2026-05-09T16:20:52Z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